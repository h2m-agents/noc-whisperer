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981047" y="2926080"/>
            <a:ext cx="8229600" cy="73152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NOC WHISPERER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 i="0">
                <a:solidFill>
                  <a:srgbClr val="A0A0B8"/>
                </a:solidFill>
                <a:latin typeface="Calibri"/>
              </a:defRPr>
            </a:pPr>
            <a:r>
              <a:t>Real-time multi-agent alert correlation</a:t>
            </a:r>
            <a:br/>
            <a:r>
              <a:t>for distributed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A0A0B8"/>
                </a:solidFill>
                <a:latin typeface="Calibri"/>
              </a:defRPr>
            </a:pPr>
            <a:r>
              <a:t>H2M Agents  |  May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The NOC Alert Flood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38560" cy="822960"/>
          </a:xfrm>
          <a:prstGeom prst="roundRect">
            <a:avLst/>
          </a:prstGeom>
          <a:solidFill>
            <a:srgbClr val="2D2D42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417320"/>
            <a:ext cx="182880" cy="1828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OpenTelemetry is an open-source observability framework that instruments applications and emits metrics, traces, and logs — the signals this system monitors in real time.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249424"/>
            <a:ext cx="228600" cy="22860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A single infrastructure failure cascades across 7+ services — each generating its own alert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999232"/>
            <a:ext cx="228600" cy="22860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4436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L1 operators manually correlate dozens of noisy alerts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49040"/>
            <a:ext cx="228600" cy="22860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94176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Root cause identification takes 15–30 minutes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98848"/>
            <a:ext cx="228600" cy="228600"/>
          </a:xfrm>
          <a:prstGeom prst="ellipse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43984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Alert fatigue leads to missed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303520"/>
            <a:ext cx="10058400" cy="1005840"/>
          </a:xfrm>
          <a:prstGeom prst="roundRect">
            <a:avLst/>
          </a:prstGeom>
          <a:solidFill>
            <a:srgbClr val="2D2D4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i="1">
                <a:solidFill>
                  <a:srgbClr val="FFD700"/>
                </a:solidFill>
                <a:latin typeface="Calibri"/>
              </a:defRPr>
            </a:pPr>
            <a:r>
              <a:t>Can a multi-agent AI system correlate alerts in real time, identify root cause, and generate actionable advisories — automatically?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System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B8"/>
                </a:solidFill>
                <a:latin typeface="Calibri"/>
              </a:defRPr>
            </a:pPr>
            <a:r>
              <a:t>What flows in, what flows out, and who is outside the system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A0A0B8"/>
                </a:solidFill>
                <a:latin typeface="Calibri"/>
              </a:defRPr>
            </a:pPr>
            <a:r>
              <a:t>MONITORED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743200" cy="64008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OTel Demo Stack</a:t>
            </a:r>
          </a:p>
          <a:p>
            <a:pPr>
              <a:defRPr sz="1100">
                <a:solidFill>
                  <a:srgbClr val="A0A0B8"/>
                </a:solidFill>
              </a:defRPr>
            </a:pPr>
            <a:r>
              <a:t>applications +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23160"/>
            <a:ext cx="2743200" cy="64008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Prometheus</a:t>
            </a:r>
          </a:p>
          <a:p>
            <a:pPr>
              <a:defRPr sz="1100">
                <a:solidFill>
                  <a:srgbClr val="A0A0B8"/>
                </a:solidFill>
              </a:defRPr>
            </a:pPr>
            <a:r>
              <a:t>metrics + thresholds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743200" cy="64008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Jaeger</a:t>
            </a:r>
          </a:p>
          <a:p>
            <a:pPr>
              <a:defRPr sz="1100">
                <a:solidFill>
                  <a:srgbClr val="A0A0B8"/>
                </a:solidFill>
              </a:defRPr>
            </a:pPr>
            <a:r>
              <a:t>distributed traces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77640"/>
            <a:ext cx="2743200" cy="64008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Node Exporter</a:t>
            </a:r>
          </a:p>
          <a:p>
            <a:pPr>
              <a:defRPr sz="1100">
                <a:solidFill>
                  <a:srgbClr val="A0A0B8"/>
                </a:solidFill>
              </a:defRPr>
            </a:pPr>
            <a:r>
              <a:t>host-level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188720"/>
            <a:ext cx="5029200" cy="4754880"/>
          </a:xfrm>
          <a:prstGeom prst="roundRect">
            <a:avLst/>
          </a:prstGeom>
          <a:solidFill>
            <a:srgbClr val="252535"/>
          </a:solidFill>
          <a:ln w="317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41732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4472C4"/>
                </a:solidFill>
                <a:latin typeface="Calibri"/>
              </a:defRPr>
            </a:pPr>
            <a:r>
              <a:t>NOC WHISPERER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78308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A0A0B8"/>
                </a:solidFill>
                <a:latin typeface="Calibri"/>
              </a:defRPr>
            </a:pPr>
            <a:r>
              <a:t>Multi-Agent Alert Correlation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194560"/>
            <a:ext cx="4114800" cy="50292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NormalizerAgent                   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807208"/>
            <a:ext cx="4114800" cy="50292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TriageAgent                    rule-based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419856"/>
            <a:ext cx="4114800" cy="50292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CorrelationAgent                    DSPy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4032504"/>
            <a:ext cx="4114800" cy="50292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CommunicationsAgent                    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4617720"/>
            <a:ext cx="4114800" cy="36576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ADK LlmAgent Orchestrator — 15s cycle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947672"/>
            <a:ext cx="256032" cy="18288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3502152" y="1929384"/>
            <a:ext cx="91440" cy="73152"/>
          </a:xfrm>
          <a:prstGeom prst="triangle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746504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1">
                <a:solidFill>
                  <a:srgbClr val="A0A0B8"/>
                </a:solidFill>
                <a:latin typeface="Calibri"/>
              </a:defRPr>
            </a:pPr>
            <a:r>
              <a:t>metrics &amp; threshold alerts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724912"/>
            <a:ext cx="256032" cy="18288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3502152" y="2706624"/>
            <a:ext cx="91440" cy="73152"/>
          </a:xfrm>
          <a:prstGeom prst="triangle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2523744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1">
                <a:solidFill>
                  <a:srgbClr val="A0A0B8"/>
                </a:solidFill>
                <a:latin typeface="Calibri"/>
              </a:defRPr>
            </a:pPr>
            <a:r>
              <a:t>distributed traces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502152"/>
            <a:ext cx="256032" cy="18288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5400000">
            <a:off x="3502152" y="3483864"/>
            <a:ext cx="91440" cy="73152"/>
          </a:xfrm>
          <a:prstGeom prst="triangle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3300984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1">
                <a:solidFill>
                  <a:srgbClr val="A0A0B8"/>
                </a:solidFill>
                <a:latin typeface="Calibri"/>
              </a:defRPr>
            </a:pPr>
            <a:r>
              <a:t>host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28016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A0A0B8"/>
                </a:solidFill>
                <a:latin typeface="Calibri"/>
              </a:defRPr>
            </a:pPr>
            <a:r>
              <a:t>NOC OPERATORS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1645920"/>
            <a:ext cx="2743200" cy="9144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00C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NOC Team</a:t>
            </a:r>
          </a:p>
          <a:p>
            <a:pPr>
              <a:defRPr sz="1100">
                <a:solidFill>
                  <a:srgbClr val="A0A0B8"/>
                </a:solidFill>
              </a:defRPr>
            </a:pPr>
            <a:r>
              <a:t>on-call engineers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1080" y="2011680"/>
            <a:ext cx="201168" cy="18288"/>
          </a:xfrm>
          <a:prstGeom prst="rect">
            <a:avLst/>
          </a:prstGeom>
          <a:solidFill>
            <a:srgbClr val="00C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8842248" y="1993392"/>
            <a:ext cx="91440" cy="73152"/>
          </a:xfrm>
          <a:prstGeom prst="triangle">
            <a:avLst/>
          </a:prstGeom>
          <a:solidFill>
            <a:srgbClr val="00C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1810512"/>
            <a:ext cx="338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00C897"/>
                </a:solidFill>
                <a:latin typeface="Calibri"/>
              </a:defRPr>
            </a:pPr>
            <a:r>
              <a:t>NOC Advisory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2514600"/>
            <a:ext cx="201168" cy="18288"/>
          </a:xfrm>
          <a:prstGeom prst="rect">
            <a:avLst/>
          </a:prstGeom>
          <a:solidFill>
            <a:srgbClr val="00C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5400000">
            <a:off x="8842248" y="2496312"/>
            <a:ext cx="91440" cy="73152"/>
          </a:xfrm>
          <a:prstGeom prst="triangle">
            <a:avLst/>
          </a:prstGeom>
          <a:solidFill>
            <a:srgbClr val="00C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2313432"/>
            <a:ext cx="338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00C897"/>
                </a:solidFill>
                <a:latin typeface="Calibri"/>
              </a:defRPr>
            </a:pPr>
            <a:r>
              <a:t>Incident 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3017520"/>
            <a:ext cx="201168" cy="18288"/>
          </a:xfrm>
          <a:prstGeom prst="rect">
            <a:avLst/>
          </a:prstGeom>
          <a:solidFill>
            <a:srgbClr val="00C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5400000">
            <a:off x="8842248" y="2999232"/>
            <a:ext cx="91440" cy="73152"/>
          </a:xfrm>
          <a:prstGeom prst="triangle">
            <a:avLst/>
          </a:prstGeom>
          <a:solidFill>
            <a:srgbClr val="00C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2816352"/>
            <a:ext cx="3383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00C897"/>
                </a:solidFill>
                <a:latin typeface="Calibri"/>
              </a:defRPr>
            </a:pPr>
            <a:r>
              <a:t>SERVICE RESTORED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A0A0B8"/>
                </a:solidFill>
                <a:latin typeface="Calibri"/>
              </a:defRPr>
            </a:pPr>
            <a:r>
              <a:t>System ingests observability signals autonomously — operators receive correlated advisories, not raw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34440"/>
            <a:ext cx="2377440" cy="365760"/>
          </a:xfrm>
          <a:prstGeom prst="round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737360"/>
            <a:ext cx="2377440" cy="6858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Prometheus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8920" y="2061972"/>
            <a:ext cx="228600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5400000">
            <a:off x="3017520" y="2034540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2532888"/>
            <a:ext cx="2377440" cy="6858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Jaeger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857500"/>
            <a:ext cx="228600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3017520" y="2830068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3328416"/>
            <a:ext cx="2377440" cy="6858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Node Exporter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3653028"/>
            <a:ext cx="228600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3017520" y="3625596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4123944"/>
            <a:ext cx="2377440" cy="6858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OTel Demo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4448556"/>
            <a:ext cx="228600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3017520" y="4421124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08960" y="1234440"/>
            <a:ext cx="2377440" cy="3657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MCP TOOL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1737360"/>
            <a:ext cx="2377440" cy="6858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PrometheusMCP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2061972"/>
            <a:ext cx="228600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5760720" y="2034540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08960" y="2532888"/>
            <a:ext cx="2377440" cy="6858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JaegerMCP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2857500"/>
            <a:ext cx="228600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5760720" y="2830068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08960" y="3328416"/>
            <a:ext cx="2377440" cy="6858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TopologyMCP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3653028"/>
            <a:ext cx="228600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5760720" y="3625596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08960" y="4123944"/>
            <a:ext cx="2377440" cy="6858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NodeExporterMCP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2120" y="4448556"/>
            <a:ext cx="228600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5760720" y="4421124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852160" y="1234440"/>
            <a:ext cx="2377440" cy="3657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AGENT PIPELINE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737360"/>
            <a:ext cx="2377440" cy="685800"/>
          </a:xfrm>
          <a:prstGeom prst="roundRect">
            <a:avLst/>
          </a:prstGeom>
          <a:solidFill>
            <a:srgbClr val="2D2D42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NormalizerAgent</a:t>
            </a:r>
          </a:p>
          <a:p>
            <a:pPr>
              <a:defRPr sz="1000">
                <a:solidFill>
                  <a:srgbClr val="A0A0B8"/>
                </a:solidFill>
              </a:defRPr>
            </a:pPr>
            <a:r>
              <a:t>LLM fine-tuned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2061972"/>
            <a:ext cx="228600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5400000">
            <a:off x="8503920" y="2034540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852160" y="2532888"/>
            <a:ext cx="2377440" cy="685800"/>
          </a:xfrm>
          <a:prstGeom prst="roundRect">
            <a:avLst/>
          </a:prstGeom>
          <a:solidFill>
            <a:srgbClr val="2D2D42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TriageAgent</a:t>
            </a:r>
          </a:p>
          <a:p>
            <a:pPr>
              <a:defRPr sz="1000">
                <a:solidFill>
                  <a:srgbClr val="A0A0B8"/>
                </a:solidFill>
              </a:defRPr>
            </a:pPr>
            <a:r>
              <a:t>rule-based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2857500"/>
            <a:ext cx="228600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5400000">
            <a:off x="8503920" y="2830068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852160" y="3328416"/>
            <a:ext cx="2377440" cy="685800"/>
          </a:xfrm>
          <a:prstGeom prst="roundRect">
            <a:avLst/>
          </a:prstGeom>
          <a:solidFill>
            <a:srgbClr val="2D2D42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CorrelationAgent</a:t>
            </a:r>
          </a:p>
          <a:p>
            <a:pPr>
              <a:defRPr sz="1000">
                <a:solidFill>
                  <a:srgbClr val="A0A0B8"/>
                </a:solidFill>
              </a:defRPr>
            </a:pPr>
            <a:r>
              <a:t>LLM DSPy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3653028"/>
            <a:ext cx="228600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5400000">
            <a:off x="8503920" y="3625596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852160" y="4123944"/>
            <a:ext cx="2377440" cy="685800"/>
          </a:xfrm>
          <a:prstGeom prst="roundRect">
            <a:avLst/>
          </a:prstGeom>
          <a:solidFill>
            <a:srgbClr val="2D2D42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CommunicationsAgent</a:t>
            </a:r>
          </a:p>
          <a:p>
            <a:pPr>
              <a:defRPr sz="1000">
                <a:solidFill>
                  <a:srgbClr val="A0A0B8"/>
                </a:solidFill>
              </a:defRPr>
            </a:pPr>
            <a:r>
              <a:t>LLM fine-tuned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4448556"/>
            <a:ext cx="228600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 rot="5400000">
            <a:off x="8503920" y="4421124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595360" y="1234440"/>
            <a:ext cx="2377440" cy="365760"/>
          </a:xfrm>
          <a:prstGeom prst="roundRect">
            <a:avLst/>
          </a:prstGeom>
          <a:solidFill>
            <a:srgbClr val="00C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NOC DASHBOARD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60" y="1737360"/>
            <a:ext cx="2377440" cy="6858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00C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RAW ALERT STREAM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2532888"/>
            <a:ext cx="2377440" cy="6858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00C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INCIDENT BOARD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0" y="3328416"/>
            <a:ext cx="2377440" cy="6858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00C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NOC ADVISORY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4123944"/>
            <a:ext cx="2377440" cy="6858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00C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SQLite IncidentStore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A0A0B8"/>
                </a:solidFill>
                <a:latin typeface="Calibri"/>
              </a:defRPr>
            </a:pPr>
            <a:r>
              <a:t>Jaeger / NodeExporter MCPs in codebase; not wired into ADK demo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Two Layers of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4572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1 — ADK FunctionTools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438912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4472C4"/>
                </a:solidFill>
                <a:latin typeface="Consolas"/>
              </a:defRPr>
            </a:pPr>
            <a:r>
              <a:t>get_active_alerts()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7830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4472C4"/>
                </a:solidFill>
                <a:latin typeface="Consolas"/>
              </a:defRPr>
            </a:pPr>
            <a:r>
              <a:t>normalize_alert()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4472C4"/>
                </a:solidFill>
                <a:latin typeface="Consolas"/>
              </a:defRPr>
            </a:pPr>
            <a:r>
              <a:t>route_alert()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286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4472C4"/>
                </a:solidFill>
                <a:latin typeface="Consolas"/>
              </a:defRPr>
            </a:pPr>
            <a:r>
              <a:t>correlate_alert()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4472C4"/>
                </a:solidFill>
                <a:latin typeface="Consolas"/>
              </a:defRPr>
            </a:pPr>
            <a:r>
              <a:t>generate_advisory()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7889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4472C4"/>
                </a:solidFill>
                <a:latin typeface="Consolas"/>
              </a:defRPr>
            </a:pPr>
            <a:r>
              <a:t>check_open_incidents()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4472C4"/>
                </a:solidFill>
                <a:latin typeface="Consolas"/>
              </a:defRPr>
            </a:pPr>
            <a:r>
              <a:t>check_service_health()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291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4472C4"/>
                </a:solidFill>
                <a:latin typeface="Consolas"/>
              </a:defRPr>
            </a:pPr>
            <a:r>
              <a:t>close_incident()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06440" y="3063240"/>
            <a:ext cx="256032" cy="365760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1546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ED7D31"/>
                </a:solidFill>
                <a:latin typeface="Calibri"/>
              </a:defRPr>
            </a:pPr>
            <a:r>
              <a:t>calls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303520" cy="4572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LAYER 2 — MCP Tool Classes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303520" cy="438912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74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ED7D31"/>
                </a:solidFill>
                <a:latin typeface="Consolas"/>
              </a:defRPr>
            </a:pPr>
            <a:r>
              <a:t>PrometheusMCP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87452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87452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ED7D31"/>
                </a:solidFill>
                <a:latin typeface="Consolas"/>
              </a:defRPr>
            </a:pPr>
            <a:r>
              <a:t>Prometheus HTTP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328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ED7D31"/>
                </a:solidFill>
                <a:latin typeface="Consolas"/>
              </a:defRPr>
            </a:pPr>
            <a:r>
              <a:t>JaegerMCP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532888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53288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ED7D31"/>
                </a:solidFill>
                <a:latin typeface="Consolas"/>
              </a:defRPr>
            </a:pPr>
            <a:r>
              <a:t>Jaeger trace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912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ED7D31"/>
                </a:solidFill>
                <a:latin typeface="Consolas"/>
              </a:defRPr>
            </a:pPr>
            <a:r>
              <a:t>TopologyMCP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191256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191256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ED7D31"/>
                </a:solidFill>
                <a:latin typeface="Consolas"/>
              </a:defRPr>
            </a:pPr>
            <a:r>
              <a:t>otel_demo_graph.json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84962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ED7D31"/>
                </a:solidFill>
                <a:latin typeface="Consolas"/>
              </a:defRPr>
            </a:pPr>
            <a:r>
              <a:t>NodeExporterMCP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849624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849624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ED7D31"/>
                </a:solidFill>
                <a:latin typeface="Consolas"/>
              </a:defRPr>
            </a:pPr>
            <a:r>
              <a:t>Node Exporter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 i="1">
                <a:solidFill>
                  <a:srgbClr val="A0A0B8"/>
                </a:solidFill>
                <a:latin typeface="Calibri"/>
              </a:defRPr>
            </a:pPr>
            <a:r>
              <a:t>The agent reasons about tools. The tools handle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From Raw Alert to NOC Advisory — 6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3657600" cy="123444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4472C4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onsolas"/>
              </a:defRPr>
            </a:pPr>
            <a:r>
              <a:t>get_active_alerts()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18488"/>
            <a:ext cx="31546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Pull threshold breaches from</a:t>
            </a:r>
            <a:br/>
            <a:r>
              <a:t>Prometheus 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3657600" cy="123444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28016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4472C4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onsolas"/>
              </a:defRPr>
            </a:pPr>
            <a:r>
              <a:t>normalize_alert()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18488"/>
            <a:ext cx="31546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Raw metric → canonical CanonicalAlert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606040"/>
            <a:ext cx="3657600" cy="123444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5176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4472C4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onsolas"/>
              </a:defRPr>
            </a:pPr>
            <a:r>
              <a:t>route_alert()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8"/>
            <a:ext cx="31546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Rule-based topology + temporal</a:t>
            </a:r>
            <a:br/>
            <a:r>
              <a:t>proximity → new or append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606040"/>
            <a:ext cx="3657600" cy="123444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5176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4472C4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5176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onsolas"/>
              </a:defRPr>
            </a:pPr>
            <a:r>
              <a:t>correlate_alert()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90088"/>
            <a:ext cx="31546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DSPy LLM reasons over alert cluster</a:t>
            </a:r>
            <a:br/>
            <a:r>
              <a:t>+ topology → root cause + confidence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977639"/>
            <a:ext cx="3657600" cy="123444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23359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4472C4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23359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onsolas"/>
              </a:defRPr>
            </a:pPr>
            <a:r>
              <a:t>generate_advisory()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61687"/>
            <a:ext cx="31546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Fine-tuned model writes NOC advisory</a:t>
            </a:r>
            <a:br/>
            <a:r>
              <a:t>(preliminary → confirmed → resolution)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77639"/>
            <a:ext cx="3657600" cy="123444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23359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4472C4"/>
                </a:solidFill>
                <a:latin typeface="Calibri"/>
              </a:defRPr>
            </a:pPr>
            <a:r>
              <a:t>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023359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onsolas"/>
              </a:defRPr>
            </a:pPr>
            <a:r>
              <a:t>check_service_health()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361687"/>
            <a:ext cx="315468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Prometheus confirms recovery →</a:t>
            </a:r>
            <a:br/>
            <a:r>
              <a:t>close_incident() → SERVICE RESTORED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6126480"/>
            <a:ext cx="11430000" cy="41148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Cycle time: 15s  |  CONFIRMED when confidence &gt; 0.85 AND alert_count ≥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Three LLM-Powered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B8"/>
                </a:solidFill>
                <a:latin typeface="Calibri"/>
              </a:defRPr>
            </a:pPr>
            <a:r>
              <a:t>BASE MODEL: Qwen2.5-7B-Instruct  |  LoRA adapters ~10MB each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13385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1097280"/>
                <a:gridCol w="1280160"/>
                <a:gridCol w="4206240"/>
              </a:tblGrid>
              <a:tr h="3200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NormalizerAgent</a:t>
                      </a:r>
                    </a:p>
                  </a:txBody>
                  <a:tcPr>
                    <a:solidFill>
                      <a:srgbClr val="2D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SFT 200 ex.</a:t>
                      </a:r>
                    </a:p>
                  </a:txBody>
                  <a:tcPr>
                    <a:solidFill>
                      <a:srgbClr val="2D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0.541</a:t>
                      </a:r>
                    </a:p>
                  </a:txBody>
                  <a:tcPr>
                    <a:solidFill>
                      <a:srgbClr val="2D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80.9%</a:t>
                      </a:r>
                    </a:p>
                  </a:txBody>
                  <a:tcPr>
                    <a:solidFill>
                      <a:srgbClr val="2D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D2D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CommunicationsAgent</a:t>
                      </a:r>
                    </a:p>
                  </a:txBody>
                  <a:tcPr>
                    <a:solidFill>
                      <a:srgbClr val="25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SFT 80+RLVR</a:t>
                      </a:r>
                    </a:p>
                  </a:txBody>
                  <a:tcPr>
                    <a:solidFill>
                      <a:srgbClr val="25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0.250</a:t>
                      </a:r>
                    </a:p>
                  </a:txBody>
                  <a:tcPr>
                    <a:solidFill>
                      <a:srgbClr val="25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94.2%</a:t>
                      </a:r>
                    </a:p>
                  </a:txBody>
                  <a:tcPr>
                    <a:solidFill>
                      <a:srgbClr val="252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525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CorrelationAgent</a:t>
                      </a:r>
                    </a:p>
                  </a:txBody>
                  <a:tcPr>
                    <a:solidFill>
                      <a:srgbClr val="2D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DSPy optimized</a:t>
                      </a:r>
                    </a:p>
                  </a:txBody>
                  <a:tcPr>
                    <a:solidFill>
                      <a:srgbClr val="2D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D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96.7%*</a:t>
                      </a:r>
                    </a:p>
                  </a:txBody>
                  <a:tcPr>
                    <a:solidFill>
                      <a:srgbClr val="2D2D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D2D4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2743200"/>
            <a:ext cx="11338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A0A0B8"/>
                </a:solidFill>
                <a:latin typeface="Calibri"/>
              </a:defRPr>
            </a:pPr>
            <a:r>
              <a:t>* Rule-based baseline 100% same eval. LLM advantage: confidence</a:t>
            </a:r>
            <a:br/>
            <a:r>
              <a:t>calibration + advisory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657600"/>
            <a:ext cx="11338560" cy="2286000"/>
          </a:xfrm>
          <a:prstGeom prst="roundRect">
            <a:avLst/>
          </a:prstGeom>
          <a:solidFill>
            <a:srgbClr val="2D2D4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400" b="1">
                <a:solidFill>
                  <a:srgbClr val="FFD700"/>
                </a:solidFill>
              </a:defRPr>
            </a:pPr>
            <a:r>
              <a:t>⚠  DISCOVERY: Reward Hacking in Communications RLVR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Symptom: Model repeated boilerplate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Root cause: No repetition penalty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Fix: advisory_reward() unique-line ratio + length tier penalties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Result:      Stable output; 94.2% accuracy preserved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CorrelationAgent — DSPy Optimized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B8"/>
                </a:solidFill>
                <a:latin typeface="Calibri"/>
              </a:defRPr>
            </a:pPr>
            <a:r>
              <a:t>The decision engine behind every CONFIRMED advisory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303520" cy="132588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400" b="1">
                <a:solidFill>
                  <a:srgbClr val="4472C4"/>
                </a:solidFill>
              </a:defRPr>
            </a:pPr>
            <a:r>
              <a:t>What DSPy does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A compiler for LLM programs — not supervised fine-tuning. DSPy optimizes prompts and few-shot examples automatically against a scoring metric.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80360"/>
            <a:ext cx="5303520" cy="132588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400" b="1">
                <a:solidFill>
                  <a:srgbClr val="4472C4"/>
                </a:solidFill>
              </a:defRPr>
            </a:pPr>
            <a:r>
              <a:t>Program structure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Signature: alerts + topology → root_cause + confidence</a:t>
            </a:r>
            <a:br/>
            <a:r>
              <a:t>Module: ChainOfThought</a:t>
            </a:r>
            <a:br/>
            <a:r>
              <a:t>Optimizer: BootstrapFewShot</a:t>
            </a:r>
            <a:br/>
            <a:r>
              <a:t>Metric: confidence calibration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43400"/>
            <a:ext cx="5303520" cy="109728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400" b="1">
                <a:solidFill>
                  <a:srgbClr val="4472C4"/>
                </a:solidFill>
              </a:defRPr>
            </a:pPr>
            <a:r>
              <a:t>Optimized against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Labeled alert clusters with known root causes. Metric rewards high confidence on true positives.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03520" cy="1417320"/>
          </a:xfrm>
          <a:prstGeom prst="roundRect">
            <a:avLst/>
          </a:prstGeom>
          <a:solidFill>
            <a:srgbClr val="2D2D4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200" b="1" i="0">
                <a:solidFill>
                  <a:srgbClr val="FFD700"/>
                </a:solidFill>
                <a:latin typeface="Calibri"/>
              </a:defRPr>
            </a:pPr>
            <a:r>
              <a:t>96.7%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correlation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468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A0A0B8"/>
                </a:solidFill>
                <a:latin typeface="Calibri"/>
              </a:defRPr>
            </a:pPr>
            <a:r>
              <a:t>Rule-based baseline: 100% same eval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71800"/>
            <a:ext cx="5303520" cy="1874519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00C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400" b="1">
                <a:solidFill>
                  <a:srgbClr val="00C897"/>
                </a:solidFill>
              </a:defRPr>
            </a:pPr>
            <a:r>
              <a:t>Why confidence matters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355080" y="3474720"/>
            <a:ext cx="54864" cy="29260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3474720"/>
            <a:ext cx="4919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&lt; 0.85   → PRELIMINARY advisory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822192"/>
            <a:ext cx="54864" cy="347472"/>
          </a:xfrm>
          <a:prstGeom prst="rect">
            <a:avLst/>
          </a:prstGeom>
          <a:solidFill>
            <a:srgbClr val="00C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3822192"/>
            <a:ext cx="49194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≥ 0.85 + count≥2 → CONFIRMED advisory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4187952"/>
            <a:ext cx="54864" cy="2926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4187952"/>
            <a:ext cx="4919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health True → close_incident()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83480"/>
            <a:ext cx="5303520" cy="960120"/>
          </a:xfrm>
          <a:prstGeom prst="roundRect">
            <a:avLst/>
          </a:prstGeom>
          <a:solidFill>
            <a:srgbClr val="252535"/>
          </a:solidFill>
          <a:ln w="12700">
            <a:solidFill>
              <a:srgbClr val="3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200" b="1">
                <a:solidFill>
                  <a:srgbClr val="A0A0B8"/>
                </a:solidFill>
              </a:defRPr>
            </a:pPr>
            <a:r>
              <a:t>Why not fine-tune?</a:t>
            </a:r>
          </a:p>
          <a:p>
            <a:pPr>
              <a:defRPr sz="1200" i="1">
                <a:solidFill>
                  <a:srgbClr val="A0A0B8"/>
                </a:solidFill>
              </a:defRPr>
            </a:pPr>
            <a:r>
              <a:t>Correlation requires reasoning over dynamic alert clusters. DSPy generalizes better than SFT.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The Agentic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B8"/>
                </a:solidFill>
                <a:latin typeface="Calibri"/>
              </a:defRPr>
            </a:pPr>
            <a:r>
              <a:t>ADK LlmAgent orchestrates 6 steps every 15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11338560" cy="4389120"/>
          </a:xfrm>
          <a:prstGeom prst="roundRect">
            <a:avLst/>
          </a:prstGeom>
          <a:solidFill>
            <a:srgbClr val="252535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 i="0">
                <a:solidFill>
                  <a:srgbClr val="4472C4"/>
                </a:solidFill>
                <a:latin typeface="Calibri"/>
              </a:defRPr>
            </a:pPr>
            <a:r>
              <a:t>ADK LlmAgent — 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A0A0B8"/>
                </a:solidFill>
                <a:latin typeface="Calibri"/>
              </a:defRPr>
            </a:pPr>
            <a:r>
              <a:t>Conductor: reads world state, sequences tool calls, decides when to 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3200400" cy="9144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① get_active_alerts()</a:t>
            </a:r>
          </a:p>
          <a:p>
            <a:pPr>
              <a:defRPr sz="1100">
                <a:solidFill>
                  <a:srgbClr val="A0A0B8"/>
                </a:solidFill>
              </a:defRPr>
            </a:pPr>
            <a:r>
              <a:t>PrometheusMCP</a:t>
            </a:r>
          </a:p>
          <a:p>
            <a:pPr>
              <a:defRPr sz="1000" i="1">
                <a:solidFill>
                  <a:srgbClr val="A5A5A5"/>
                </a:solidFill>
              </a:defRPr>
            </a:pPr>
            <a:r>
              <a:t>rule-based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2697480"/>
            <a:ext cx="201168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4361688" y="2670048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200400" cy="9144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② normalize_alert()</a:t>
            </a:r>
          </a:p>
          <a:p>
            <a:pPr>
              <a:defRPr sz="1100">
                <a:solidFill>
                  <a:srgbClr val="A0A0B8"/>
                </a:solidFill>
              </a:defRPr>
            </a:pPr>
            <a:r>
              <a:t>NormalizerAgent</a:t>
            </a:r>
          </a:p>
          <a:p>
            <a:pPr>
              <a:defRPr sz="1000" i="1">
                <a:solidFill>
                  <a:srgbClr val="4472C4"/>
                </a:solidFill>
              </a:defRPr>
            </a:pPr>
            <a:r>
              <a:t>LLM fine-tuned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2697480"/>
            <a:ext cx="201168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7836408" y="2670048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2286000"/>
            <a:ext cx="3200400" cy="9144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③ route_alert()</a:t>
            </a:r>
          </a:p>
          <a:p>
            <a:pPr>
              <a:defRPr sz="1100">
                <a:solidFill>
                  <a:srgbClr val="A0A0B8"/>
                </a:solidFill>
              </a:defRPr>
            </a:pPr>
            <a:r>
              <a:t>TriageAgent</a:t>
            </a:r>
          </a:p>
          <a:p>
            <a:pPr>
              <a:defRPr sz="1000" i="1">
                <a:solidFill>
                  <a:srgbClr val="70AD47"/>
                </a:solidFill>
              </a:defRPr>
            </a:pPr>
            <a:r>
              <a:t>rule-based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37560"/>
            <a:ext cx="3200400" cy="9144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④ correlate_alert()</a:t>
            </a:r>
          </a:p>
          <a:p>
            <a:pPr>
              <a:defRPr sz="1100">
                <a:solidFill>
                  <a:srgbClr val="A0A0B8"/>
                </a:solidFill>
              </a:defRPr>
            </a:pPr>
            <a:r>
              <a:t>CorrelationAgent</a:t>
            </a:r>
          </a:p>
          <a:p>
            <a:pPr>
              <a:defRPr sz="1000" i="1">
                <a:solidFill>
                  <a:srgbClr val="4472C4"/>
                </a:solidFill>
              </a:defRPr>
            </a:pPr>
            <a:r>
              <a:t>DSPy optimized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3749040"/>
            <a:ext cx="201168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4361688" y="3721608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3337560"/>
            <a:ext cx="3200400" cy="9144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⑤ generate_advisory()</a:t>
            </a:r>
          </a:p>
          <a:p>
            <a:pPr>
              <a:defRPr sz="1100">
                <a:solidFill>
                  <a:srgbClr val="A0A0B8"/>
                </a:solidFill>
              </a:defRPr>
            </a:pPr>
            <a:r>
              <a:t>CommunicationsAgent</a:t>
            </a:r>
          </a:p>
          <a:p>
            <a:pPr>
              <a:defRPr sz="1000" i="1">
                <a:solidFill>
                  <a:srgbClr val="4472C4"/>
                </a:solidFill>
              </a:defRPr>
            </a:pPr>
            <a:r>
              <a:t>LLM fine-tuned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749040"/>
            <a:ext cx="201168" cy="36576"/>
          </a:xfrm>
          <a:prstGeom prst="rect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7836408" y="3721608"/>
            <a:ext cx="109728" cy="91440"/>
          </a:xfrm>
          <a:prstGeom prst="triangle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0" y="3337560"/>
            <a:ext cx="3200400" cy="91440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00C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⑥ health check + close</a:t>
            </a:r>
          </a:p>
          <a:p>
            <a:pPr>
              <a:defRPr sz="1100">
                <a:solidFill>
                  <a:srgbClr val="A0A0B8"/>
                </a:solidFill>
              </a:defRPr>
            </a:pPr>
            <a:r>
              <a:t>Prometheus + Comms</a:t>
            </a:r>
          </a:p>
          <a:p>
            <a:pPr>
              <a:defRPr sz="1000" i="1">
                <a:solidFill>
                  <a:srgbClr val="00C897"/>
                </a:solidFill>
              </a:defRPr>
            </a:pPr>
            <a:r>
              <a:t>rule-based + LLM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0881360" y="3246120"/>
            <a:ext cx="256032" cy="320040"/>
          </a:xfrm>
          <a:prstGeom prst="downArrow">
            <a:avLst/>
          </a:prstGeom>
          <a:solidFill>
            <a:srgbClr val="55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389120"/>
            <a:ext cx="1645920" cy="182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2788920" y="4370832"/>
            <a:ext cx="91440" cy="73152"/>
          </a:xfrm>
          <a:prstGeom prst="triangl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187952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4472C4"/>
                </a:solidFill>
                <a:latin typeface="Calibri"/>
              </a:defRPr>
            </a:pPr>
            <a:r>
              <a:t>15s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4983480"/>
            <a:ext cx="5943600" cy="59436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00C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STEP 6 fires close_incident() only if check_service_health() returns True — the orchestrator decides, the tool executes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6126480"/>
            <a:ext cx="11338560" cy="41148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T+2–3 min first alert  →  T+5–6 min CONFIRMED  →  T+12–14 min SERVICE RESTORED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The 6-Step Agentic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B8"/>
                </a:solidFill>
                <a:latin typeface="Calibri"/>
              </a:defRPr>
            </a:pPr>
            <a:r>
              <a:t>Orchestrator LLM coordinates all tool calls — agents are specialists, LLM is the conductor</a:t>
            </a:r>
          </a:p>
        </p:txBody>
      </p:sp>
      <p:pic>
        <p:nvPicPr>
          <p:cNvPr id="4" name="Picture 3" descr="agentic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5794224152" y="1097280"/>
            <a:ext cx="6131600640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A0A0B8"/>
                </a:solidFill>
                <a:latin typeface="Calibri"/>
              </a:defRPr>
            </a:pPr>
            <a:r>
              <a:t>15s poll cycle  |  8 FunctionTools  |  6 steps per tick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Google ADK LlmAgent + 8 FunctionTools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A0A0B8"/>
                </a:solidFill>
                <a:latin typeface="Calibri"/>
              </a:defRPr>
            </a:pPr>
            <a:r>
              <a:t>6-step workflow  |  15s poll 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63040"/>
            <a:ext cx="5303520" cy="2560320"/>
          </a:xfrm>
          <a:prstGeom prst="roundRect">
            <a:avLst/>
          </a:prstGeom>
          <a:solidFill>
            <a:srgbClr val="2D2D42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500" b="1">
                <a:solidFill>
                  <a:srgbClr val="4472C4"/>
                </a:solidFill>
              </a:defRPr>
            </a:pPr>
            <a:r>
              <a:t>Which advisory type?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Preliminary or confirmed based on: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confidence score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alert count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flags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63040"/>
            <a:ext cx="5303520" cy="2560320"/>
          </a:xfrm>
          <a:prstGeom prst="roundRect">
            <a:avLst/>
          </a:prstGeom>
          <a:solidFill>
            <a:srgbClr val="2D2D42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500" b="1">
                <a:solidFill>
                  <a:srgbClr val="70AD47"/>
                </a:solidFill>
              </a:defRPr>
            </a:pPr>
            <a:r>
              <a:t>When to close?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Only when Prometheus health check confirms recovery — LLM coordinates, close_incident() executes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737360"/>
            <a:ext cx="27432" cy="2011680"/>
          </a:xfrm>
          <a:prstGeom prst="rect">
            <a:avLst/>
          </a:prstGeom>
          <a:solidFill>
            <a:srgbClr val="3D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4206240"/>
            <a:ext cx="11338560" cy="914400"/>
          </a:xfrm>
          <a:prstGeom prst="roundRect">
            <a:avLst/>
          </a:prstGeom>
          <a:solidFill>
            <a:srgbClr val="2D2D42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Same alert, different outcomes — depends on evolving store state: open incidents, flags,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257800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B8"/>
                </a:solidFill>
                <a:latin typeface="Calibri"/>
              </a:defRPr>
            </a:pPr>
            <a:r>
              <a:t>All 6 steps orchestrated by the LLM.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257800"/>
            <a:ext cx="5760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B8"/>
                </a:solidFill>
                <a:latin typeface="Calibri"/>
              </a:defRPr>
            </a:pPr>
            <a:r>
              <a:t>Routing and health decisions happen inside rule-based tools — not in the LLM itself.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What It Does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A0A0B8"/>
                </a:solidFill>
                <a:latin typeface="Calibri"/>
              </a:defRPr>
            </a:pPr>
            <a:r>
              <a:t>Observed in demo runs — May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3474720" cy="201168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90472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00C897"/>
                </a:solidFill>
                <a:latin typeface="Calibri"/>
              </a:defRPr>
            </a:pPr>
            <a:r>
              <a:t>305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8775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A0A0B8"/>
                </a:solidFill>
                <a:latin typeface="Calibri"/>
              </a:defRPr>
            </a:pPr>
            <a:r>
              <a:t>end-to-end, ~13s full suite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25880"/>
            <a:ext cx="3474720" cy="201168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490472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4472C4"/>
                </a:solidFill>
                <a:latin typeface="Calibri"/>
              </a:defRPr>
            </a:pPr>
            <a:r>
              <a:t>0.90–0.95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945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live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58775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A0A0B8"/>
                </a:solidFill>
                <a:latin typeface="Calibri"/>
              </a:defRPr>
            </a:pPr>
            <a:r>
              <a:t>DSPyCorrelator on real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325880"/>
            <a:ext cx="3474720" cy="201168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490472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FFD700"/>
                </a:solidFill>
                <a:latin typeface="Calibri"/>
              </a:defRPr>
            </a:pPr>
            <a:r>
              <a:t>T+5–6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945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to 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58775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A0A0B8"/>
                </a:solidFill>
                <a:latin typeface="Calibri"/>
              </a:defRPr>
            </a:pPr>
            <a:r>
              <a:t>after fault injection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520440"/>
            <a:ext cx="3474720" cy="201168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00C897"/>
                </a:solidFill>
                <a:latin typeface="Calibri"/>
              </a:defRPr>
            </a:pPr>
            <a:r>
              <a:t>T+12–14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891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to SERVICE RESTORED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8231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A0A0B8"/>
                </a:solidFill>
                <a:latin typeface="Calibri"/>
              </a:defRPr>
            </a:pPr>
            <a:r>
              <a:t>after fault injection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520440"/>
            <a:ext cx="3474720" cy="201168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3685032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70AD47"/>
                </a:solidFill>
                <a:latin typeface="Calibri"/>
              </a:defRPr>
            </a:pPr>
            <a:r>
              <a:t>isolated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3891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ad noise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78231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A0A0B8"/>
                </a:solidFill>
                <a:latin typeface="Calibri"/>
              </a:defRPr>
            </a:pPr>
            <a:r>
              <a:t>separate from valkey-cart cascade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520440"/>
            <a:ext cx="3474720" cy="201168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685032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 i="0">
                <a:solidFill>
                  <a:srgbClr val="ED7D31"/>
                </a:solidFill>
                <a:latin typeface="Calibri"/>
              </a:defRPr>
            </a:pPr>
            <a:r>
              <a:t>T+2–3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3891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78231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0">
                <a:solidFill>
                  <a:srgbClr val="A0A0B8"/>
                </a:solidFill>
                <a:latin typeface="Calibri"/>
              </a:defRPr>
            </a:pPr>
            <a:r>
              <a:t>fault to first alert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914400"/>
            <a:ext cx="11338560" cy="9144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[ LIVE DEMO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 i="0">
                <a:solidFill>
                  <a:srgbClr val="A0A0B8"/>
                </a:solidFill>
                <a:latin typeface="Calibri"/>
              </a:defRPr>
            </a:pPr>
            <a:r>
              <a:t>Scenario: valkey-cart cache failure cascade</a:t>
            </a:r>
            <a:br/>
            <a:r>
              <a:t>OpenTelemetry demo environment</a:t>
            </a:r>
            <a:br/>
            <a:r>
              <a:t>Fault pre-injected — live: healing + SERVICE RESTORED (~6 minutes)</a:t>
            </a:r>
          </a:p>
        </p:txBody>
      </p:sp>
      <p:sp>
        <p:nvSpPr>
          <p:cNvPr id="4" name="Oval 3"/>
          <p:cNvSpPr/>
          <p:nvPr/>
        </p:nvSpPr>
        <p:spPr>
          <a:xfrm>
            <a:off x="1581912" y="3136392"/>
            <a:ext cx="320040" cy="320040"/>
          </a:xfrm>
          <a:prstGeom prst="ellipse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2971800"/>
            <a:ext cx="8229600" cy="566928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306324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Baseline  —  system monitoring, cart cascade already active, CONFIRMED advisory showing</a:t>
            </a:r>
          </a:p>
        </p:txBody>
      </p:sp>
      <p:sp>
        <p:nvSpPr>
          <p:cNvPr id="7" name="Oval 6"/>
          <p:cNvSpPr/>
          <p:nvPr/>
        </p:nvSpPr>
        <p:spPr>
          <a:xfrm>
            <a:off x="1581912" y="3849624"/>
            <a:ext cx="320040" cy="320040"/>
          </a:xfrm>
          <a:prstGeom prst="ellipse">
            <a:avLst/>
          </a:prstGeom>
          <a:solidFill>
            <a:srgbClr val="00C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3685032"/>
            <a:ext cx="8229600" cy="566928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3776472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Healing  —  docker start valkey-cart</a:t>
            </a:r>
          </a:p>
        </p:txBody>
      </p:sp>
      <p:sp>
        <p:nvSpPr>
          <p:cNvPr id="10" name="Oval 9"/>
          <p:cNvSpPr/>
          <p:nvPr/>
        </p:nvSpPr>
        <p:spPr>
          <a:xfrm>
            <a:off x="1581912" y="4562856"/>
            <a:ext cx="320040" cy="3200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398264"/>
            <a:ext cx="8229600" cy="566928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489704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Recovery  —  Prometheus confirms cart healthy</a:t>
            </a:r>
          </a:p>
        </p:txBody>
      </p:sp>
      <p:sp>
        <p:nvSpPr>
          <p:cNvPr id="13" name="Oval 12"/>
          <p:cNvSpPr/>
          <p:nvPr/>
        </p:nvSpPr>
        <p:spPr>
          <a:xfrm>
            <a:off x="1581912" y="5276088"/>
            <a:ext cx="320040" cy="32004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5111496"/>
            <a:ext cx="8229600" cy="566928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5202936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SERVICE RESTORED  —  advisory fires, incident closed, removed from board</a:t>
            </a:r>
          </a:p>
        </p:txBody>
      </p:sp>
      <p:sp>
        <p:nvSpPr>
          <p:cNvPr id="16" name="Oval 15"/>
          <p:cNvSpPr/>
          <p:nvPr/>
        </p:nvSpPr>
        <p:spPr>
          <a:xfrm>
            <a:off x="1581912" y="5989320"/>
            <a:ext cx="320040" cy="320040"/>
          </a:xfrm>
          <a:prstGeom prst="ellipse">
            <a:avLst/>
          </a:prstGeom>
          <a:solidFill>
            <a:srgbClr val="00C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5824728"/>
            <a:ext cx="8229600" cy="566928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591616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Board clears  —  cart incident resolved, only ad noise remains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143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What We Learned — And Would Do Differently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5303520" cy="141732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Baseline heuristics can beat LLM for structured tasks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Establish a baseline before investing in fine-tuning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143000"/>
            <a:ext cx="5303520" cy="141732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Statelessness is a fundamental agentic challenge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Design state management into architecture from day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5303520" cy="141732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Trust code over prompts for invariants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Behavioral guarantees belong in code, not LLM instructions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743200"/>
            <a:ext cx="5303520" cy="141732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Noise isolation is as important as detection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Understand operating environment before tuning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43400"/>
            <a:ext cx="5303520" cy="141732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Fine-tuning teaches format, not temporal awareness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Know the boundary of what training can and cannot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343400"/>
            <a:ext cx="5303520" cy="1417320"/>
          </a:xfrm>
          <a:prstGeom prst="roundRect">
            <a:avLst/>
          </a:prstGeom>
          <a:solidFill>
            <a:srgbClr val="2D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Observability window size is a first-class design decision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PromQL [5m] vs [1m] window affects detection latency, noise stability, and recovery confirmation timing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